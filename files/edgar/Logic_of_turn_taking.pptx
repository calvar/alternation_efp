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57" r:id="rId6"/>
    <p:sldId id="266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C9679-9E0B-B506-F7A0-49D7BF23E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396244-FD4B-CE0F-7991-0D3AF011E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BC52B1-4A15-B135-2F67-21522E99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8C26CF-0C9E-923E-20FD-B60D4C60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C12CC-A347-DC94-F1F1-0EFE0EC0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610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2A512-FD0D-3A8F-240D-DAD0EA46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E5A0FD-7999-9C5A-5C6F-F094628C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798E1A-CBE3-20C5-97F7-FF9CAECD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3FEF98-6508-9D84-A51E-B12733AD4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DE83DE-91CD-367E-07EC-D9FE7E6C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58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EA5D-28D7-42D0-697E-9E2D233E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A245D-ACC1-0117-C071-57F059C47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838FFE-C4A3-2832-DE0A-31F2F7A8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5ECD0F-D118-44F4-934F-5A2AC594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0B07F0-C8CD-21D4-9E8F-1631A3F1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145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1EC49-715B-1108-884C-9D7DDDD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FD5812-8987-FFCC-EB67-7D5731152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7C9C88-622D-82E2-0A95-60C756FE5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36490F-8599-3C86-5B77-FFD357D1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AC697B-38EE-ED5E-129C-98A80469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ABFCC4-4403-81A1-DF68-3CEDE966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2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786B0-B5C7-ED7B-89CE-0CC8DF32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D0BF0-CD48-0B72-DF5B-69EE3EB84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0B567-8E5F-E59B-776B-9F361B34D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416CDE-7B15-9A18-EA89-108D88509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2D06F9-B486-C8CC-D667-CEDFEAC04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4811A1-6058-A32A-A117-6E568EA7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47323B2-F92F-DA8A-4FCB-616F3F26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40C743-0DBE-053B-D814-161FFDAB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556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46CF2-0C83-FCE0-17E4-68D5A7EC2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541929-E441-9B5E-EDCB-E0750811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71E59B-399B-DF9A-09A4-18E714BF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901AB7-19B0-CA48-2D7D-C4D09C3E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807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4A81A49-5D0F-7DF2-1F99-33F549C5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D3C794-749D-F86E-0430-B5C463B1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B89CAB-59B4-DDBB-E283-6FA42E86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3667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1EE01-E211-FE21-92CC-BDDAF501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4C25CC-A41A-5DD8-33B8-EC4FAB3CE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224C88-6953-876B-3805-02A0CAEE2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431DD-8F17-A8CC-0CE6-F66E4685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DBE009-8328-B18F-E4AB-D811A5B4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C97391-B46E-FE51-1C10-4F95F7A6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425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5ACDE-C40F-6715-9AEC-92AE46E8E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C6AFED-142E-6BCC-A326-3C84DB80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2B343A-A9FB-16B1-751D-4A5781890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E88038-2344-2574-4C01-AC4269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D71420-0FB9-8FF7-8AC3-437E5C8E7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624E82-CACA-BCA4-9541-54E3AD7E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653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E066E-7686-7829-6C3B-1E029E9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BE8126-15F8-3A87-4EC8-0C6F298C9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5E3E18-423C-5E95-2F7B-581D8D8A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3AA47F-7F5E-B912-35D1-A3DE301D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A3B36D-BC71-888C-62D8-FF9F6375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041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5D1B2D-F45E-9150-0EF7-CCF87A2E9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F072B4-FF7A-3B37-65E9-C98B47485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BDDBD6-83B5-00AF-BA66-60A5A569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0E3C78-86AD-1B72-2070-AB6682D3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BADD63-3E01-CB20-CBC8-A7F3567A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379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42F7F1-08E4-DE68-0C7F-6F61545F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09FE25-E4FC-2E66-E38C-E2B57FAE0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BD2F32-570F-95EA-8ABA-DB2F01C9C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DBAD7-5618-4044-B76E-7FC1CDAC08C0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5E29ED-40C5-605F-30B3-51343F3DF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91AB5E-A729-438E-A916-1F9837FD0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715CE-00F0-9C42-8947-70068AEB882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883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0B25C-BDC4-C0A4-15F7-D253A5E79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Logic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Turn-Taking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DE9045-23F3-37E4-5B1F-D2B89067A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Carlos Márquez, Germán Obando, Edgar Andrade-Lotero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212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406CA-0E36-4A65-B892-2A8003A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Convergence</a:t>
            </a:r>
            <a:r>
              <a:rPr lang="es-ES" dirty="0"/>
              <a:t> times</a:t>
            </a: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79DCC6-6B04-4615-8CA8-5F1F695422A2}"/>
              </a:ext>
            </a:extLst>
          </p:cNvPr>
          <p:cNvSpPr/>
          <p:nvPr/>
        </p:nvSpPr>
        <p:spPr>
          <a:xfrm>
            <a:off x="836536" y="1992394"/>
            <a:ext cx="7743825" cy="40385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AC7BA78-AD5E-4590-BAB1-4DC2DBFE4DF0}"/>
              </a:ext>
            </a:extLst>
          </p:cNvPr>
          <p:cNvSpPr/>
          <p:nvPr/>
        </p:nvSpPr>
        <p:spPr>
          <a:xfrm>
            <a:off x="7352826" y="2270757"/>
            <a:ext cx="1157287" cy="16266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05C5E3-FA37-4D8E-AB5D-4D9757893464}"/>
              </a:ext>
            </a:extLst>
          </p:cNvPr>
          <p:cNvSpPr txBox="1"/>
          <p:nvPr/>
        </p:nvSpPr>
        <p:spPr>
          <a:xfrm>
            <a:off x="4531045" y="613100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Round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5F55B3-AA18-4859-80D2-D3E883174006}"/>
              </a:ext>
            </a:extLst>
          </p:cNvPr>
          <p:cNvSpPr txBox="1"/>
          <p:nvPr/>
        </p:nvSpPr>
        <p:spPr>
          <a:xfrm rot="16200000">
            <a:off x="-403680" y="3629678"/>
            <a:ext cx="200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Bounded</a:t>
            </a:r>
            <a:r>
              <a:rPr lang="es-ES" dirty="0"/>
              <a:t> </a:t>
            </a:r>
            <a:r>
              <a:rPr lang="es-ES" dirty="0" err="1"/>
              <a:t>efficiency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B5B2D-43D4-4935-904C-5AC3FBB3F687}"/>
              </a:ext>
            </a:extLst>
          </p:cNvPr>
          <p:cNvSpPr txBox="1"/>
          <p:nvPr/>
        </p:nvSpPr>
        <p:spPr>
          <a:xfrm>
            <a:off x="7586188" y="2346958"/>
            <a:ext cx="7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 / N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F05173-EB02-4CB2-B567-1257578EB191}"/>
              </a:ext>
            </a:extLst>
          </p:cNvPr>
          <p:cNvSpPr txBox="1"/>
          <p:nvPr/>
        </p:nvSpPr>
        <p:spPr>
          <a:xfrm>
            <a:off x="7808835" y="2732482"/>
            <a:ext cx="771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/ 2</a:t>
            </a:r>
          </a:p>
          <a:p>
            <a:r>
              <a:rPr lang="es-ES" dirty="0"/>
              <a:t>1 / 3</a:t>
            </a:r>
          </a:p>
          <a:p>
            <a:r>
              <a:rPr lang="es-ES" dirty="0"/>
              <a:t>2 / 11</a:t>
            </a:r>
          </a:p>
          <a:p>
            <a:r>
              <a:rPr lang="es-ES" dirty="0"/>
              <a:t>7 / 11</a:t>
            </a:r>
            <a:endParaRPr lang="es-CO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B8ED7F6-5132-4D30-915A-2CBBE5E308C6}"/>
              </a:ext>
            </a:extLst>
          </p:cNvPr>
          <p:cNvCxnSpPr/>
          <p:nvPr/>
        </p:nvCxnSpPr>
        <p:spPr>
          <a:xfrm>
            <a:off x="836535" y="2170743"/>
            <a:ext cx="7798474" cy="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3DDDEE-AF6C-4297-A35A-1A5D621A960C}"/>
              </a:ext>
            </a:extLst>
          </p:cNvPr>
          <p:cNvSpPr txBox="1"/>
          <p:nvPr/>
        </p:nvSpPr>
        <p:spPr>
          <a:xfrm>
            <a:off x="467202" y="1977626"/>
            <a:ext cx="3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0533F16-AA5A-4EF5-9461-69CE2F330D6D}"/>
              </a:ext>
            </a:extLst>
          </p:cNvPr>
          <p:cNvSpPr txBox="1"/>
          <p:nvPr/>
        </p:nvSpPr>
        <p:spPr>
          <a:xfrm>
            <a:off x="9004697" y="1924008"/>
            <a:ext cx="2243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Bounded</a:t>
            </a:r>
            <a:r>
              <a:rPr lang="es-ES" dirty="0"/>
              <a:t> </a:t>
            </a:r>
            <a:r>
              <a:rPr lang="es-ES" dirty="0" err="1"/>
              <a:t>efficiency</a:t>
            </a:r>
            <a:r>
              <a:rPr lang="es-ES" dirty="0"/>
              <a:t>:</a:t>
            </a:r>
          </a:p>
          <a:p>
            <a:endParaRPr lang="es-ES" dirty="0"/>
          </a:p>
          <a:p>
            <a:r>
              <a:rPr lang="es-ES" dirty="0" err="1"/>
              <a:t>Aggregated</a:t>
            </a:r>
            <a:r>
              <a:rPr lang="es-ES" dirty="0"/>
              <a:t> score </a:t>
            </a:r>
            <a:r>
              <a:rPr lang="es-ES" dirty="0" err="1"/>
              <a:t>by</a:t>
            </a:r>
            <a:r>
              <a:rPr lang="es-ES" dirty="0"/>
              <a:t> round </a:t>
            </a:r>
            <a:r>
              <a:rPr lang="es-ES" dirty="0" err="1"/>
              <a:t>averaged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players</a:t>
            </a:r>
            <a:r>
              <a:rPr lang="es-ES" dirty="0"/>
              <a:t>, </a:t>
            </a:r>
            <a:r>
              <a:rPr lang="es-ES" dirty="0" err="1"/>
              <a:t>divided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B/N.</a:t>
            </a:r>
          </a:p>
          <a:p>
            <a:endParaRPr lang="es-ES" dirty="0"/>
          </a:p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independent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both</a:t>
            </a:r>
            <a:r>
              <a:rPr lang="es-ES" dirty="0"/>
              <a:t> B and N.</a:t>
            </a:r>
            <a:endParaRPr lang="es-CO" dirty="0"/>
          </a:p>
        </p:txBody>
      </p:sp>
      <p:sp>
        <p:nvSpPr>
          <p:cNvPr id="10" name="Arco 9">
            <a:extLst>
              <a:ext uri="{FF2B5EF4-FFF2-40B4-BE49-F238E27FC236}">
                <a16:creationId xmlns:a16="http://schemas.microsoft.com/office/drawing/2014/main" id="{81658E68-4B7E-450B-BC63-71364C2CEAC5}"/>
              </a:ext>
            </a:extLst>
          </p:cNvPr>
          <p:cNvSpPr/>
          <p:nvPr/>
        </p:nvSpPr>
        <p:spPr>
          <a:xfrm flipV="1">
            <a:off x="893091" y="2185511"/>
            <a:ext cx="12414648" cy="1858205"/>
          </a:xfrm>
          <a:prstGeom prst="arc">
            <a:avLst>
              <a:gd name="adj1" fmla="val 6487869"/>
              <a:gd name="adj2" fmla="val 10799999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Arco 15">
            <a:extLst>
              <a:ext uri="{FF2B5EF4-FFF2-40B4-BE49-F238E27FC236}">
                <a16:creationId xmlns:a16="http://schemas.microsoft.com/office/drawing/2014/main" id="{40BD998E-645A-45FE-A494-3DB1E2FC9FD6}"/>
              </a:ext>
            </a:extLst>
          </p:cNvPr>
          <p:cNvSpPr/>
          <p:nvPr/>
        </p:nvSpPr>
        <p:spPr>
          <a:xfrm flipV="1">
            <a:off x="1045491" y="2337911"/>
            <a:ext cx="12414648" cy="1858205"/>
          </a:xfrm>
          <a:prstGeom prst="arc">
            <a:avLst>
              <a:gd name="adj1" fmla="val 6487869"/>
              <a:gd name="adj2" fmla="val 10799999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Arco 16">
            <a:extLst>
              <a:ext uri="{FF2B5EF4-FFF2-40B4-BE49-F238E27FC236}">
                <a16:creationId xmlns:a16="http://schemas.microsoft.com/office/drawing/2014/main" id="{026AEAB7-9E4F-4AF7-A4B3-81119FAD367F}"/>
              </a:ext>
            </a:extLst>
          </p:cNvPr>
          <p:cNvSpPr/>
          <p:nvPr/>
        </p:nvSpPr>
        <p:spPr>
          <a:xfrm flipV="1">
            <a:off x="1197891" y="2490311"/>
            <a:ext cx="12414648" cy="1858205"/>
          </a:xfrm>
          <a:prstGeom prst="arc">
            <a:avLst>
              <a:gd name="adj1" fmla="val 6487869"/>
              <a:gd name="adj2" fmla="val 10799999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Arco 17">
            <a:extLst>
              <a:ext uri="{FF2B5EF4-FFF2-40B4-BE49-F238E27FC236}">
                <a16:creationId xmlns:a16="http://schemas.microsoft.com/office/drawing/2014/main" id="{BF0D7737-77D2-4544-8992-DF5F0FD9372D}"/>
              </a:ext>
            </a:extLst>
          </p:cNvPr>
          <p:cNvSpPr/>
          <p:nvPr/>
        </p:nvSpPr>
        <p:spPr>
          <a:xfrm flipV="1">
            <a:off x="1350291" y="2642711"/>
            <a:ext cx="12414648" cy="1858205"/>
          </a:xfrm>
          <a:prstGeom prst="arc">
            <a:avLst>
              <a:gd name="adj1" fmla="val 6487869"/>
              <a:gd name="adj2" fmla="val 10799999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86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3C6C599-FEEA-4AAD-96F4-51258FC5D80E}"/>
              </a:ext>
            </a:extLst>
          </p:cNvPr>
          <p:cNvSpPr/>
          <p:nvPr/>
        </p:nvSpPr>
        <p:spPr>
          <a:xfrm>
            <a:off x="838200" y="1891547"/>
            <a:ext cx="7743825" cy="40385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5E6A6F-8D23-474E-95A3-56F7FD2E3831}"/>
              </a:ext>
            </a:extLst>
          </p:cNvPr>
          <p:cNvSpPr txBox="1"/>
          <p:nvPr/>
        </p:nvSpPr>
        <p:spPr>
          <a:xfrm>
            <a:off x="4531045" y="613100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Round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8B0F5D-A734-4472-A029-813ABB21A19C}"/>
              </a:ext>
            </a:extLst>
          </p:cNvPr>
          <p:cNvSpPr txBox="1"/>
          <p:nvPr/>
        </p:nvSpPr>
        <p:spPr>
          <a:xfrm rot="16200000">
            <a:off x="-403680" y="3629678"/>
            <a:ext cx="200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Bounded</a:t>
            </a:r>
            <a:r>
              <a:rPr lang="es-ES" dirty="0"/>
              <a:t> </a:t>
            </a:r>
            <a:r>
              <a:rPr lang="es-ES" dirty="0" err="1"/>
              <a:t>efficiency</a:t>
            </a:r>
            <a:endParaRPr lang="es-CO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771961-D058-4951-A7D8-F874212A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Robustness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incorrect</a:t>
            </a:r>
            <a:r>
              <a:rPr lang="es-ES" dirty="0"/>
              <a:t> </a:t>
            </a:r>
            <a:r>
              <a:rPr lang="es-ES" dirty="0" err="1"/>
              <a:t>actions</a:t>
            </a:r>
            <a:endParaRPr lang="es-CO" dirty="0"/>
          </a:p>
        </p:txBody>
      </p:sp>
      <p:sp>
        <p:nvSpPr>
          <p:cNvPr id="5" name="Arco 4">
            <a:extLst>
              <a:ext uri="{FF2B5EF4-FFF2-40B4-BE49-F238E27FC236}">
                <a16:creationId xmlns:a16="http://schemas.microsoft.com/office/drawing/2014/main" id="{AD5A210C-05B4-404A-BF81-A565E9EA7EF0}"/>
              </a:ext>
            </a:extLst>
          </p:cNvPr>
          <p:cNvSpPr/>
          <p:nvPr/>
        </p:nvSpPr>
        <p:spPr>
          <a:xfrm flipV="1">
            <a:off x="285581" y="2651872"/>
            <a:ext cx="3883696" cy="1243489"/>
          </a:xfrm>
          <a:prstGeom prst="arc">
            <a:avLst>
              <a:gd name="adj1" fmla="val 3625326"/>
              <a:gd name="adj2" fmla="val 5803406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C084A46-BD91-4F0C-8E1C-A631169195E1}"/>
              </a:ext>
            </a:extLst>
          </p:cNvPr>
          <p:cNvGrpSpPr/>
          <p:nvPr/>
        </p:nvGrpSpPr>
        <p:grpSpPr>
          <a:xfrm>
            <a:off x="1977062" y="1988460"/>
            <a:ext cx="5466099" cy="1922386"/>
            <a:chOff x="2921916" y="2156933"/>
            <a:chExt cx="5466099" cy="1922386"/>
          </a:xfrm>
        </p:grpSpPr>
        <p:sp>
          <p:nvSpPr>
            <p:cNvPr id="4" name="Arco 3">
              <a:extLst>
                <a:ext uri="{FF2B5EF4-FFF2-40B4-BE49-F238E27FC236}">
                  <a16:creationId xmlns:a16="http://schemas.microsoft.com/office/drawing/2014/main" id="{306A5A72-21EB-40D8-A90B-1350FEB721D8}"/>
                </a:ext>
              </a:extLst>
            </p:cNvPr>
            <p:cNvSpPr/>
            <p:nvPr/>
          </p:nvSpPr>
          <p:spPr>
            <a:xfrm flipV="1">
              <a:off x="2921916" y="2835830"/>
              <a:ext cx="1107159" cy="1243489"/>
            </a:xfrm>
            <a:prstGeom prst="arc">
              <a:avLst>
                <a:gd name="adj1" fmla="val 2013151"/>
                <a:gd name="adj2" fmla="val 5447483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6" name="Arco 5">
              <a:extLst>
                <a:ext uri="{FF2B5EF4-FFF2-40B4-BE49-F238E27FC236}">
                  <a16:creationId xmlns:a16="http://schemas.microsoft.com/office/drawing/2014/main" id="{3FF1277E-462C-42BB-8F25-23CACA8BDFE8}"/>
                </a:ext>
              </a:extLst>
            </p:cNvPr>
            <p:cNvSpPr/>
            <p:nvPr/>
          </p:nvSpPr>
          <p:spPr>
            <a:xfrm flipV="1">
              <a:off x="3839949" y="2156933"/>
              <a:ext cx="1107159" cy="1243489"/>
            </a:xfrm>
            <a:prstGeom prst="arc">
              <a:avLst>
                <a:gd name="adj1" fmla="val 13118301"/>
                <a:gd name="adj2" fmla="val 20735555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AD7B21C3-8223-4221-9584-67FBF08C8AC2}"/>
                </a:ext>
              </a:extLst>
            </p:cNvPr>
            <p:cNvSpPr/>
            <p:nvPr/>
          </p:nvSpPr>
          <p:spPr>
            <a:xfrm flipV="1">
              <a:off x="4504319" y="2682074"/>
              <a:ext cx="3883696" cy="1243489"/>
            </a:xfrm>
            <a:prstGeom prst="arc">
              <a:avLst>
                <a:gd name="adj1" fmla="val 3625326"/>
                <a:gd name="adj2" fmla="val 9848648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906A94-73B0-4188-8E73-53423C794246}"/>
              </a:ext>
            </a:extLst>
          </p:cNvPr>
          <p:cNvSpPr/>
          <p:nvPr/>
        </p:nvSpPr>
        <p:spPr>
          <a:xfrm>
            <a:off x="7352826" y="2270757"/>
            <a:ext cx="1157287" cy="16266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7E7CAD-5DE7-428C-BDAD-948C6ED88781}"/>
              </a:ext>
            </a:extLst>
          </p:cNvPr>
          <p:cNvSpPr txBox="1"/>
          <p:nvPr/>
        </p:nvSpPr>
        <p:spPr>
          <a:xfrm>
            <a:off x="7443161" y="2270757"/>
            <a:ext cx="1004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Num</a:t>
            </a:r>
            <a:r>
              <a:rPr lang="es-ES" dirty="0"/>
              <a:t>.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failing</a:t>
            </a:r>
            <a:r>
              <a:rPr lang="es-ES" dirty="0"/>
              <a:t> </a:t>
            </a:r>
            <a:r>
              <a:rPr lang="es-ES" dirty="0" err="1"/>
              <a:t>agents</a:t>
            </a:r>
            <a:endParaRPr lang="es-CO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93597DC-D034-4B7B-94CD-2C22065BCC75}"/>
              </a:ext>
            </a:extLst>
          </p:cNvPr>
          <p:cNvGrpSpPr/>
          <p:nvPr/>
        </p:nvGrpSpPr>
        <p:grpSpPr>
          <a:xfrm>
            <a:off x="1914997" y="2576189"/>
            <a:ext cx="7219647" cy="1922386"/>
            <a:chOff x="2921916" y="2156933"/>
            <a:chExt cx="5466099" cy="1922386"/>
          </a:xfrm>
        </p:grpSpPr>
        <p:sp>
          <p:nvSpPr>
            <p:cNvPr id="15" name="Arco 14">
              <a:extLst>
                <a:ext uri="{FF2B5EF4-FFF2-40B4-BE49-F238E27FC236}">
                  <a16:creationId xmlns:a16="http://schemas.microsoft.com/office/drawing/2014/main" id="{9873F040-84EA-4A4B-8DA2-891EAE9EA8DA}"/>
                </a:ext>
              </a:extLst>
            </p:cNvPr>
            <p:cNvSpPr/>
            <p:nvPr/>
          </p:nvSpPr>
          <p:spPr>
            <a:xfrm flipV="1">
              <a:off x="2921916" y="2835830"/>
              <a:ext cx="1107159" cy="1243489"/>
            </a:xfrm>
            <a:prstGeom prst="arc">
              <a:avLst>
                <a:gd name="adj1" fmla="val 2013151"/>
                <a:gd name="adj2" fmla="val 5447483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6" name="Arco 15">
              <a:extLst>
                <a:ext uri="{FF2B5EF4-FFF2-40B4-BE49-F238E27FC236}">
                  <a16:creationId xmlns:a16="http://schemas.microsoft.com/office/drawing/2014/main" id="{BC49A1AD-B68A-4555-A37F-62B1FF4CCCB5}"/>
                </a:ext>
              </a:extLst>
            </p:cNvPr>
            <p:cNvSpPr/>
            <p:nvPr/>
          </p:nvSpPr>
          <p:spPr>
            <a:xfrm flipV="1">
              <a:off x="3839949" y="2156933"/>
              <a:ext cx="1107159" cy="1243489"/>
            </a:xfrm>
            <a:prstGeom prst="arc">
              <a:avLst>
                <a:gd name="adj1" fmla="val 13118301"/>
                <a:gd name="adj2" fmla="val 20735555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7" name="Arco 16">
              <a:extLst>
                <a:ext uri="{FF2B5EF4-FFF2-40B4-BE49-F238E27FC236}">
                  <a16:creationId xmlns:a16="http://schemas.microsoft.com/office/drawing/2014/main" id="{CDAF3B83-EC80-4CAB-A5C0-27BCFCCCD92C}"/>
                </a:ext>
              </a:extLst>
            </p:cNvPr>
            <p:cNvSpPr/>
            <p:nvPr/>
          </p:nvSpPr>
          <p:spPr>
            <a:xfrm flipV="1">
              <a:off x="4504319" y="2682074"/>
              <a:ext cx="3883696" cy="1243489"/>
            </a:xfrm>
            <a:prstGeom prst="arc">
              <a:avLst>
                <a:gd name="adj1" fmla="val 3625326"/>
                <a:gd name="adj2" fmla="val 9848648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324445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406CA-0E36-4A65-B892-2A8003A8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Benchmark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convergence</a:t>
            </a:r>
            <a:r>
              <a:rPr lang="es-ES" dirty="0"/>
              <a:t> times</a:t>
            </a: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79DCC6-6B04-4615-8CA8-5F1F695422A2}"/>
              </a:ext>
            </a:extLst>
          </p:cNvPr>
          <p:cNvSpPr/>
          <p:nvPr/>
        </p:nvSpPr>
        <p:spPr>
          <a:xfrm>
            <a:off x="2536749" y="1863807"/>
            <a:ext cx="7743825" cy="40385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AC7BA78-AD5E-4590-BAB1-4DC2DBFE4DF0}"/>
              </a:ext>
            </a:extLst>
          </p:cNvPr>
          <p:cNvSpPr/>
          <p:nvPr/>
        </p:nvSpPr>
        <p:spPr>
          <a:xfrm>
            <a:off x="8616320" y="2125264"/>
            <a:ext cx="1573291" cy="20313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05C5E3-FA37-4D8E-AB5D-4D9757893464}"/>
              </a:ext>
            </a:extLst>
          </p:cNvPr>
          <p:cNvSpPr txBox="1"/>
          <p:nvPr/>
        </p:nvSpPr>
        <p:spPr>
          <a:xfrm>
            <a:off x="6096000" y="594884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Round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5F55B3-AA18-4859-80D2-D3E883174006}"/>
              </a:ext>
            </a:extLst>
          </p:cNvPr>
          <p:cNvSpPr txBox="1"/>
          <p:nvPr/>
        </p:nvSpPr>
        <p:spPr>
          <a:xfrm rot="16200000">
            <a:off x="1296533" y="3501091"/>
            <a:ext cx="200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Bounded</a:t>
            </a:r>
            <a:r>
              <a:rPr lang="es-ES" dirty="0"/>
              <a:t> </a:t>
            </a:r>
            <a:r>
              <a:rPr lang="es-ES" dirty="0" err="1"/>
              <a:t>efficiency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B5B2D-43D4-4935-904C-5AC3FBB3F687}"/>
              </a:ext>
            </a:extLst>
          </p:cNvPr>
          <p:cNvSpPr txBox="1"/>
          <p:nvPr/>
        </p:nvSpPr>
        <p:spPr>
          <a:xfrm>
            <a:off x="8800628" y="2218371"/>
            <a:ext cx="128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Algo. B / N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F05173-EB02-4CB2-B567-1257578EB191}"/>
              </a:ext>
            </a:extLst>
          </p:cNvPr>
          <p:cNvSpPr txBox="1"/>
          <p:nvPr/>
        </p:nvSpPr>
        <p:spPr>
          <a:xfrm>
            <a:off x="9509048" y="2655333"/>
            <a:ext cx="7715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 / 2</a:t>
            </a:r>
          </a:p>
          <a:p>
            <a:r>
              <a:rPr lang="es-ES" dirty="0"/>
              <a:t>7 / 11</a:t>
            </a:r>
          </a:p>
          <a:p>
            <a:endParaRPr lang="es-ES" dirty="0"/>
          </a:p>
          <a:p>
            <a:r>
              <a:rPr lang="es-ES" dirty="0"/>
              <a:t>1 / 2</a:t>
            </a:r>
          </a:p>
          <a:p>
            <a:r>
              <a:rPr lang="es-ES" dirty="0"/>
              <a:t>7 / 11</a:t>
            </a:r>
          </a:p>
          <a:p>
            <a:endParaRPr lang="es-ES" dirty="0"/>
          </a:p>
          <a:p>
            <a:endParaRPr lang="es-CO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B8ED7F6-5132-4D30-915A-2CBBE5E308C6}"/>
              </a:ext>
            </a:extLst>
          </p:cNvPr>
          <p:cNvCxnSpPr/>
          <p:nvPr/>
        </p:nvCxnSpPr>
        <p:spPr>
          <a:xfrm>
            <a:off x="2536748" y="2042156"/>
            <a:ext cx="7798474" cy="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3DDDEE-AF6C-4297-A35A-1A5D621A960C}"/>
              </a:ext>
            </a:extLst>
          </p:cNvPr>
          <p:cNvSpPr txBox="1"/>
          <p:nvPr/>
        </p:nvSpPr>
        <p:spPr>
          <a:xfrm>
            <a:off x="2167415" y="1849039"/>
            <a:ext cx="3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s-CO" dirty="0"/>
          </a:p>
        </p:txBody>
      </p:sp>
      <p:sp>
        <p:nvSpPr>
          <p:cNvPr id="10" name="Arco 9">
            <a:extLst>
              <a:ext uri="{FF2B5EF4-FFF2-40B4-BE49-F238E27FC236}">
                <a16:creationId xmlns:a16="http://schemas.microsoft.com/office/drawing/2014/main" id="{81658E68-4B7E-450B-BC63-71364C2CEAC5}"/>
              </a:ext>
            </a:extLst>
          </p:cNvPr>
          <p:cNvSpPr/>
          <p:nvPr/>
        </p:nvSpPr>
        <p:spPr>
          <a:xfrm flipV="1">
            <a:off x="2593305" y="2056922"/>
            <a:ext cx="5379122" cy="1858205"/>
          </a:xfrm>
          <a:prstGeom prst="arc">
            <a:avLst>
              <a:gd name="adj1" fmla="val 6487869"/>
              <a:gd name="adj2" fmla="val 10799999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Arco 15">
            <a:extLst>
              <a:ext uri="{FF2B5EF4-FFF2-40B4-BE49-F238E27FC236}">
                <a16:creationId xmlns:a16="http://schemas.microsoft.com/office/drawing/2014/main" id="{40BD998E-645A-45FE-A494-3DB1E2FC9FD6}"/>
              </a:ext>
            </a:extLst>
          </p:cNvPr>
          <p:cNvSpPr/>
          <p:nvPr/>
        </p:nvSpPr>
        <p:spPr>
          <a:xfrm flipV="1">
            <a:off x="2591397" y="2088594"/>
            <a:ext cx="10679307" cy="1858205"/>
          </a:xfrm>
          <a:prstGeom prst="arc">
            <a:avLst>
              <a:gd name="adj1" fmla="val 6487869"/>
              <a:gd name="adj2" fmla="val 10799999"/>
            </a:avLst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0709920-8D39-4DF8-AA0F-00654D07D803}"/>
              </a:ext>
            </a:extLst>
          </p:cNvPr>
          <p:cNvSpPr txBox="1"/>
          <p:nvPr/>
        </p:nvSpPr>
        <p:spPr>
          <a:xfrm>
            <a:off x="8790630" y="2740103"/>
            <a:ext cx="90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Graph</a:t>
            </a:r>
            <a:endParaRPr lang="es-CO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F9AEA51-3953-4A9C-A66D-77E05079B20B}"/>
              </a:ext>
            </a:extLst>
          </p:cNvPr>
          <p:cNvSpPr txBox="1"/>
          <p:nvPr/>
        </p:nvSpPr>
        <p:spPr>
          <a:xfrm>
            <a:off x="8780632" y="3577467"/>
            <a:ext cx="90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RL-</a:t>
            </a:r>
            <a:r>
              <a:rPr lang="es-ES" dirty="0" err="1"/>
              <a:t>fair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916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5271D-D740-02CD-9694-3387D625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CD3F37-83A2-FFDC-8F01-A1123932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dirty="0"/>
              <a:t>Algoritmo de </a:t>
            </a:r>
            <a:r>
              <a:rPr lang="es-CO" dirty="0" err="1"/>
              <a:t>turn-taking</a:t>
            </a:r>
            <a:r>
              <a:rPr lang="es-CO" dirty="0"/>
              <a:t> para que N agentes se repartan B recursos en una serie de rondas. (DEMOSTRAR)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Algoritmo de traducción del </a:t>
            </a:r>
            <a:r>
              <a:rPr lang="es-CO" dirty="0" err="1"/>
              <a:t>turn-taking</a:t>
            </a:r>
            <a:r>
              <a:rPr lang="es-CO" dirty="0"/>
              <a:t> a una colección distribuida de reglas simples. (PRESENTAR)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Hay unos patrones que generan reglas que requieren un solo vecino (in-</a:t>
            </a:r>
            <a:r>
              <a:rPr lang="es-CO" dirty="0" err="1"/>
              <a:t>degree</a:t>
            </a:r>
            <a:r>
              <a:rPr lang="es-CO" dirty="0"/>
              <a:t>=1). (DEMOSTRAR)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Relación entre el patrón y las propiedades del grafo. (DEFINIRLO MEJOR)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Protocolo de activación de patrón. (DEMOSTRACIÓN)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Las reglas simples + protocolo de activación: (MOSTRAR EMPÍRICAMENTE)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O" dirty="0"/>
              <a:t>Generan el patrón a partir de cualquier configuración inicial.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O" dirty="0"/>
              <a:t>Defienden el patrón ante errores o caídas de nodos.</a:t>
            </a:r>
          </a:p>
        </p:txBody>
      </p:sp>
    </p:spTree>
    <p:extLst>
      <p:ext uri="{BB962C8B-B14F-4D97-AF65-F5344CB8AC3E}">
        <p14:creationId xmlns:p14="http://schemas.microsoft.com/office/powerpoint/2010/main" val="226414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C1FBA-6A43-46DD-A870-24513D36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EC55D-A88A-43C3-B435-740111893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Algoritmo para hacer el patrón de </a:t>
            </a:r>
            <a:r>
              <a:rPr lang="es-ES" dirty="0" err="1"/>
              <a:t>turn-taking</a:t>
            </a:r>
            <a:endParaRPr lang="es-ES" dirty="0"/>
          </a:p>
          <a:p>
            <a:r>
              <a:rPr lang="es-ES" dirty="0"/>
              <a:t>Algoritmo para hacer el grafo de menor diámetro. </a:t>
            </a:r>
          </a:p>
          <a:p>
            <a:r>
              <a:rPr lang="es-ES" dirty="0"/>
              <a:t>Reglas de robustez </a:t>
            </a:r>
          </a:p>
          <a:p>
            <a:pPr lvl="1"/>
            <a:r>
              <a:rPr lang="es-ES" dirty="0"/>
              <a:t>si soy pelo, nada; </a:t>
            </a:r>
          </a:p>
          <a:p>
            <a:pPr lvl="1"/>
            <a:r>
              <a:rPr lang="es-ES" dirty="0"/>
              <a:t>Monitoreo a todo el </a:t>
            </a:r>
            <a:r>
              <a:rPr lang="es-ES" dirty="0" err="1"/>
              <a:t>inner_cycle</a:t>
            </a:r>
            <a:r>
              <a:rPr lang="es-ES" dirty="0"/>
              <a:t> + si soy ciclo, y </a:t>
            </a:r>
          </a:p>
          <a:p>
            <a:pPr lvl="2"/>
            <a:r>
              <a:rPr lang="es-ES" dirty="0"/>
              <a:t>si </a:t>
            </a:r>
            <a:r>
              <a:rPr lang="es-ES" dirty="0" err="1"/>
              <a:t>inner_cycle</a:t>
            </a:r>
            <a:r>
              <a:rPr lang="es-ES" dirty="0"/>
              <a:t> &lt; FQ y mi acción es 0, entonces 1 (50%)</a:t>
            </a:r>
          </a:p>
          <a:p>
            <a:pPr lvl="2"/>
            <a:r>
              <a:rPr lang="es-ES" dirty="0"/>
              <a:t>si </a:t>
            </a:r>
            <a:r>
              <a:rPr lang="es-ES" dirty="0" err="1"/>
              <a:t>inner_cycle</a:t>
            </a:r>
            <a:r>
              <a:rPr lang="es-ES" dirty="0"/>
              <a:t> &gt; FQ y mi acción es 1, entonces 0 (50%)</a:t>
            </a:r>
          </a:p>
          <a:p>
            <a:pPr lvl="1"/>
            <a:r>
              <a:rPr lang="es-ES" dirty="0"/>
              <a:t>si soy ciclo, si </a:t>
            </a:r>
            <a:r>
              <a:rPr lang="es-ES" dirty="0" err="1"/>
              <a:t>reward</a:t>
            </a:r>
            <a:r>
              <a:rPr lang="es-ES" dirty="0"/>
              <a:t>!=</a:t>
            </a:r>
            <a:r>
              <a:rPr lang="es-ES" dirty="0" err="1"/>
              <a:t>reward_óptimo</a:t>
            </a:r>
            <a:r>
              <a:rPr lang="es-ES" dirty="0"/>
              <a:t>, cambio acción (50%)</a:t>
            </a:r>
          </a:p>
          <a:p>
            <a:r>
              <a:rPr lang="es-ES" dirty="0"/>
              <a:t>Convergencia en condiciones aleatorias</a:t>
            </a:r>
          </a:p>
          <a:p>
            <a:r>
              <a:rPr lang="es-ES" dirty="0"/>
              <a:t>El de menor diámetro es óptimo porque:</a:t>
            </a:r>
          </a:p>
          <a:p>
            <a:pPr lvl="1"/>
            <a:r>
              <a:rPr lang="es-ES" dirty="0"/>
              <a:t>Requiere menos información???</a:t>
            </a:r>
          </a:p>
          <a:p>
            <a:pPr lvl="1"/>
            <a:r>
              <a:rPr lang="es-ES" dirty="0"/>
              <a:t>Es más robusto???</a:t>
            </a:r>
          </a:p>
          <a:p>
            <a:r>
              <a:rPr lang="es-ES"/>
              <a:t>Benchmarking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208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B138B-C9CD-D41A-AE97-8CCEBC88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Algoritmo </a:t>
            </a:r>
            <a:r>
              <a:rPr lang="es-CO" dirty="0" err="1"/>
              <a:t>turn-taking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293B4-C2A5-2847-BCE5-88DF186C2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Overleaf</a:t>
            </a:r>
            <a:r>
              <a:rPr lang="es-CO" dirty="0"/>
              <a:t>, sección 2.4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813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6D60E-806E-61E9-DDCA-EDE53F4F7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Algoritmo de traducción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F62765-A805-920A-04B0-FC914E628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Build</a:t>
            </a:r>
            <a:r>
              <a:rPr lang="es-CO" dirty="0"/>
              <a:t> </a:t>
            </a:r>
            <a:r>
              <a:rPr lang="es-CO" dirty="0" err="1"/>
              <a:t>graph</a:t>
            </a:r>
            <a:endParaRPr lang="es-CO" dirty="0"/>
          </a:p>
          <a:p>
            <a:r>
              <a:rPr lang="es-CO" dirty="0" err="1"/>
              <a:t>Get</a:t>
            </a:r>
            <a:r>
              <a:rPr lang="es-CO" dirty="0"/>
              <a:t> </a:t>
            </a:r>
            <a:r>
              <a:rPr lang="es-CO" dirty="0" err="1"/>
              <a:t>strategy</a:t>
            </a:r>
            <a:r>
              <a:rPr lang="es-CO" dirty="0"/>
              <a:t>:</a:t>
            </a:r>
          </a:p>
          <a:p>
            <a:pPr lvl="1"/>
            <a:r>
              <a:rPr lang="es-CO" dirty="0"/>
              <a:t>Input: </a:t>
            </a:r>
          </a:p>
          <a:p>
            <a:pPr lvl="2"/>
            <a:r>
              <a:rPr lang="es-CO" dirty="0" err="1"/>
              <a:t>Index</a:t>
            </a:r>
            <a:endParaRPr lang="es-CO" dirty="0"/>
          </a:p>
          <a:p>
            <a:pPr lvl="2"/>
            <a:r>
              <a:rPr lang="es-CO"/>
              <a:t>Patrón</a:t>
            </a:r>
          </a:p>
          <a:p>
            <a:pPr lvl="2"/>
            <a:endParaRPr lang="es-CO" dirty="0"/>
          </a:p>
          <a:p>
            <a:pPr lvl="1"/>
            <a:r>
              <a:rPr lang="es-CO" dirty="0"/>
              <a:t>Output: Diccionario {</a:t>
            </a:r>
            <a:r>
              <a:rPr lang="es-CO" dirty="0" err="1"/>
              <a:t>obs:acción</a:t>
            </a:r>
            <a:r>
              <a:rPr lang="es-CO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688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CE67B-6FDD-55A8-33F1-81C8E337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In-</a:t>
            </a:r>
            <a:r>
              <a:rPr lang="es-CO" dirty="0" err="1"/>
              <a:t>degree</a:t>
            </a:r>
            <a:r>
              <a:rPr lang="es-CO" dirty="0"/>
              <a:t> =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AA6E1-6331-724C-77C3-EA6FB52E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389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B7732-CA4A-B067-0ABC-A592A26F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Alternation</a:t>
            </a:r>
            <a:r>
              <a:rPr lang="es-CO" dirty="0"/>
              <a:t> </a:t>
            </a:r>
            <a:r>
              <a:rPr lang="es-CO" dirty="0" err="1"/>
              <a:t>pattern</a:t>
            </a:r>
            <a:r>
              <a:rPr lang="es-CO" dirty="0"/>
              <a:t> y propiedades grafo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E62B21-4B98-E6A5-5137-DC427143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921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62205-3EAA-E76F-33A2-979AEC24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Protocolo de activación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5D28A4-6B3F-7CFB-2EB1-09B0D85BA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2432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357</Words>
  <Application>Microsoft Office PowerPoint</Application>
  <PresentationFormat>Panorámica</PresentationFormat>
  <Paragraphs>68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The Logic of Turn-Taking</vt:lpstr>
      <vt:lpstr>Convergence times</vt:lpstr>
      <vt:lpstr>Robustness to incorrect actions</vt:lpstr>
      <vt:lpstr>Benchmark of convergence times</vt:lpstr>
      <vt:lpstr>Resultados</vt:lpstr>
      <vt:lpstr>Pasos</vt:lpstr>
      <vt:lpstr>Algoritmo turn-taking</vt:lpstr>
      <vt:lpstr>Algoritmo de traducción</vt:lpstr>
      <vt:lpstr>In-degree = 1</vt:lpstr>
      <vt:lpstr>Alternation pattern y propiedades grafo</vt:lpstr>
      <vt:lpstr>Protocolo de activación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Logic of Turn-Taking</dc:title>
  <dc:creator>Edgar Jose Andrade Lotero</dc:creator>
  <cp:lastModifiedBy>Edgar Jose Andrade Lotero</cp:lastModifiedBy>
  <cp:revision>9</cp:revision>
  <dcterms:created xsi:type="dcterms:W3CDTF">2026-01-27T15:11:04Z</dcterms:created>
  <dcterms:modified xsi:type="dcterms:W3CDTF">2026-02-17T16:13:38Z</dcterms:modified>
</cp:coreProperties>
</file>